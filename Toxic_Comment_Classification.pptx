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6" r:id="rId19"/>
    <p:sldId id="278" r:id="rId20"/>
    <p:sldId id="280" r:id="rId21"/>
    <p:sldId id="281" r:id="rId22"/>
    <p:sldId id="282" r:id="rId23"/>
    <p:sldId id="273" r:id="rId24"/>
    <p:sldId id="274" r:id="rId25"/>
    <p:sldId id="275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  <c:userShapes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Freq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toxic</c:v>
                </c:pt>
                <c:pt idx="1">
                  <c:v>insult</c:v>
                </c:pt>
                <c:pt idx="2">
                  <c:v>obscene</c:v>
                </c:pt>
                <c:pt idx="3">
                  <c:v>severe</c:v>
                </c:pt>
                <c:pt idx="4">
                  <c:v>identity</c:v>
                </c:pt>
                <c:pt idx="5">
                  <c:v>threat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48</c:v>
                </c:pt>
                <c:pt idx="1">
                  <c:v>42</c:v>
                </c:pt>
                <c:pt idx="2">
                  <c:v>38</c:v>
                </c:pt>
                <c:pt idx="3">
                  <c:v>15</c:v>
                </c:pt>
                <c:pt idx="4">
                  <c:v>8</c:v>
                </c:pt>
                <c:pt idx="5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7B-4D5D-815F-46A7B41808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ar-EG" b="0" i="0" u="none" strike="noStrike">
                    <a:solidFill>
                      <a:srgbClr val="000000"/>
                    </a:solidFill>
                    <a:latin typeface="Arial"/>
                  </a:rPr>
                  <a:t>%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3" name="chart">
          <a:extLst xmlns:a="http://schemas.openxmlformats.org/drawingml/2006/main">
            <a:ext uri="{FF2B5EF4-FFF2-40B4-BE49-F238E27FC236}">
              <a16:creationId xmlns:a16="http://schemas.microsoft.com/office/drawing/2014/main" id="{3FA94E82-2C8E-BE1A-782B-D554FEDDB55F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4610743" cy="3705742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461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fif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fif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fif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fif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fif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4878" y="928688"/>
            <a:ext cx="667424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200"/>
              </a:lnSpc>
              <a:spcAft>
                <a:spcPts val="1500"/>
              </a:spcAft>
              <a:buNone/>
            </a:pPr>
            <a:r>
              <a:rPr lang="en-US" sz="7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Toxic Comment</a:t>
            </a:r>
            <a:endParaRPr lang="en-US" sz="7200" dirty="0"/>
          </a:p>
          <a:p>
            <a:pPr marL="0" indent="0" algn="ctr">
              <a:lnSpc>
                <a:spcPts val="7200"/>
              </a:lnSpc>
              <a:spcAft>
                <a:spcPts val="1500"/>
              </a:spcAft>
              <a:buNone/>
            </a:pPr>
            <a:r>
              <a:rPr lang="en-US" sz="7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2336221" y="3138488"/>
            <a:ext cx="447155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Bef>
                <a:spcPts val="300"/>
              </a:spcBef>
              <a:spcAft>
                <a:spcPts val="3000"/>
              </a:spcAft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Multi-Label Deep Learning System</a:t>
            </a: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762000"/>
            <a:ext cx="952500" cy="3810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514475"/>
            <a:ext cx="4648200" cy="1047750"/>
          </a:xfrm>
          <a:prstGeom prst="roundRect">
            <a:avLst>
              <a:gd name="adj" fmla="val 7273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1514475"/>
            <a:ext cx="0" cy="104775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6" name="Text 4"/>
          <p:cNvSpPr/>
          <p:nvPr/>
        </p:nvSpPr>
        <p:spPr>
          <a:xfrm>
            <a:off x="571500" y="1666875"/>
            <a:ext cx="439140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71500" y="2009775"/>
            <a:ext cx="439140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multiple types of toxicity in online comments simultaneously using multi-label classification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1000" y="2714625"/>
            <a:ext cx="4648200" cy="895350"/>
          </a:xfrm>
          <a:prstGeom prst="roundRect">
            <a:avLst>
              <a:gd name="adj" fmla="val 8511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0050" y="2714625"/>
            <a:ext cx="0" cy="89535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0" name="Text 8"/>
          <p:cNvSpPr/>
          <p:nvPr/>
        </p:nvSpPr>
        <p:spPr>
          <a:xfrm>
            <a:off x="571500" y="2867025"/>
            <a:ext cx="439140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Toxicity Categories (6)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81000" y="3762375"/>
            <a:ext cx="4648200" cy="1009650"/>
          </a:xfrm>
          <a:prstGeom prst="roundRect">
            <a:avLst>
              <a:gd name="adj" fmla="val 7547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00050" y="3762375"/>
            <a:ext cx="0" cy="100965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3" name="Text 11"/>
          <p:cNvSpPr/>
          <p:nvPr/>
        </p:nvSpPr>
        <p:spPr>
          <a:xfrm>
            <a:off x="571500" y="3914775"/>
            <a:ext cx="439140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Implemented</a:t>
            </a:r>
            <a:endParaRPr lang="en-US" sz="1350" dirty="0"/>
          </a:p>
        </p:txBody>
      </p:sp>
      <p:pic>
        <p:nvPicPr>
          <p:cNvPr id="14" name="Image 0" descr="/tmp/rasterized-gradient-cf3b298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1314450"/>
            <a:ext cx="3429000" cy="2468761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524500" y="1504950"/>
            <a:ext cx="310896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524500" y="1802011"/>
            <a:ext cx="3048000" cy="17907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text preprocessing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Emoji-to-text conversion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Negation preservation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Per-label threshold tuning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imbalance handling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Gradio deployment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5334000" y="3935611"/>
            <a:ext cx="3429000" cy="1036290"/>
          </a:xfrm>
          <a:prstGeom prst="roundRect">
            <a:avLst>
              <a:gd name="adj" fmla="val 7353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5455158" y="4088011"/>
            <a:ext cx="318668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spcAft>
                <a:spcPts val="300"/>
              </a:spcAft>
              <a:buNone/>
            </a:pPr>
            <a:r>
              <a:rPr lang="en-US" sz="3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5455158" y="4659511"/>
            <a:ext cx="318668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F1-Score (CNN)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59361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&amp; Class Imbalance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762000"/>
            <a:ext cx="952500" cy="3810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44653" y="4095750"/>
            <a:ext cx="370737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Toxic vs Non-Toxic Distribution (After Balancing)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320480" y="1383506"/>
            <a:ext cx="4442520" cy="1109663"/>
          </a:xfrm>
          <a:prstGeom prst="roundRect">
            <a:avLst>
              <a:gd name="adj" fmla="val 6867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453830" y="1516856"/>
            <a:ext cx="4259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Imbalance Challenge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453830" y="1802606"/>
            <a:ext cx="4259336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dataset heavily skewed toward non-toxic comments. Without balancing, models achieve high accuracy by predicting everything as non-toxic.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4320480" y="2569369"/>
            <a:ext cx="4442520" cy="923925"/>
          </a:xfrm>
          <a:prstGeom prst="roundRect">
            <a:avLst>
              <a:gd name="adj" fmla="val 8247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453830" y="2702719"/>
            <a:ext cx="4259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Balancing Strategy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53830" y="2988469"/>
            <a:ext cx="425933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Downsampled non-toxic comments to match toxic count, creating 50 50 balanced dataset for fair model training.</a:t>
            </a:r>
            <a:endParaRPr lang="en-US" sz="975" dirty="0"/>
          </a:p>
        </p:txBody>
      </p:sp>
      <p:graphicFrame>
        <p:nvGraphicFramePr>
          <p:cNvPr id="11" name="Chart 0"/>
          <p:cNvGraphicFramePr/>
          <p:nvPr>
            <p:extLst>
              <p:ext uri="{D42A27DB-BD31-4B8C-83A1-F6EECF244321}">
                <p14:modId xmlns:p14="http://schemas.microsoft.com/office/powerpoint/2010/main" val="4255594658"/>
              </p:ext>
            </p:extLst>
          </p:nvPr>
        </p:nvGraphicFramePr>
        <p:xfrm>
          <a:off x="381000" y="1962150"/>
          <a:ext cx="3634680" cy="190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Chart 1"/>
          <p:cNvGraphicFramePr/>
          <p:nvPr/>
        </p:nvGraphicFramePr>
        <p:xfrm>
          <a:off x="4320480" y="3569494"/>
          <a:ext cx="4442520" cy="1333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511035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Multi-Label Complexity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762000"/>
            <a:ext cx="952500" cy="3810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40614" y="4286250"/>
            <a:ext cx="411937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Correlation Heatmap</a:t>
            </a:r>
            <a:endParaRPr lang="en-US" sz="1050" dirty="0"/>
          </a:p>
        </p:txBody>
      </p:sp>
      <p:pic>
        <p:nvPicPr>
          <p:cNvPr id="5" name="Image 0" descr="/tmp/rasterized-gradient-24f87f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1357313"/>
            <a:ext cx="4038600" cy="1447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876800" y="1509713"/>
            <a:ext cx="38084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Correlations</a:t>
            </a:r>
            <a:endParaRPr lang="en-US" sz="1125" dirty="0"/>
          </a:p>
        </p:txBody>
      </p:sp>
      <p:sp>
        <p:nvSpPr>
          <p:cNvPr id="7" name="Text 4"/>
          <p:cNvSpPr/>
          <p:nvPr/>
        </p:nvSpPr>
        <p:spPr>
          <a:xfrm>
            <a:off x="4876800" y="1776413"/>
            <a:ext cx="3733800" cy="8763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Toxic-Obscene: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Strong co-occurrence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Toxic-Insult: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Frequently overlap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&amp; Identity Hate: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Rare but severe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724400" y="2881313"/>
            <a:ext cx="4038600" cy="2047875"/>
          </a:xfrm>
          <a:prstGeom prst="roundRect">
            <a:avLst>
              <a:gd name="adj" fmla="val 3721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876800" y="3033713"/>
            <a:ext cx="38084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Multi-Label Statistics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876800" y="3638550"/>
            <a:ext cx="37338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1" name="Shape 8"/>
          <p:cNvSpPr/>
          <p:nvPr/>
        </p:nvSpPr>
        <p:spPr>
          <a:xfrm>
            <a:off x="4876800" y="4019550"/>
            <a:ext cx="37338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2" name="Shape 9"/>
          <p:cNvSpPr/>
          <p:nvPr/>
        </p:nvSpPr>
        <p:spPr>
          <a:xfrm>
            <a:off x="4876800" y="4400550"/>
            <a:ext cx="37338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1771650"/>
          <a:ext cx="4038600" cy="2286000"/>
        </p:xfrm>
        <a:graphic>
          <a:graphicData uri="http://schemas.openxmlformats.org/drawingml/2006/table">
            <a:tbl>
              <a:tblPr/>
              <a:tblGrid>
                <a:gridCol w="576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9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9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9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69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69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69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6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tox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sev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obs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thr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ins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ih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toxic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1.0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0.31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0.68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0.16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0.65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0.27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severe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0.31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1.0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0.40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0.13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0.38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0.21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obscene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0.68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0.40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1.0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0.14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0.72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0.29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threat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0.16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0.13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0.14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1.0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0.15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0.12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insult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0.65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0.38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0.72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0.15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1.0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0.33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id_hate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0.27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0.21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0.29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0.12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0.33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1.0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86497" y="1002209"/>
            <a:ext cx="57710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Data Analysis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71500" y="1649909"/>
            <a:ext cx="3848100" cy="1333202"/>
          </a:xfrm>
          <a:prstGeom prst="roundRect">
            <a:avLst>
              <a:gd name="adj" fmla="val 7144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07898" y="1821359"/>
            <a:ext cx="357530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Length Distribution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2234" y="2106067"/>
            <a:ext cx="109299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characters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4023427" y="2099370"/>
            <a:ext cx="22694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394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4712" y="2368897"/>
            <a:ext cx="8402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words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4098285" y="2362200"/>
            <a:ext cx="15134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6893" y="2631728"/>
            <a:ext cx="61784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length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3472968" y="2625030"/>
            <a:ext cx="78285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5000+ chars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71500" y="3116461"/>
            <a:ext cx="3848100" cy="1215182"/>
          </a:xfrm>
          <a:prstGeom prst="roundRect">
            <a:avLst>
              <a:gd name="adj" fmla="val 7838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07898" y="3287911"/>
            <a:ext cx="357530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 Detection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07898" y="3565922"/>
            <a:ext cx="3575304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975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 plots reveal significant outliers in text length. Some comments exceed 2000 words, requiring careful handling during preprocessing.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724400" y="2303115"/>
            <a:ext cx="3848100" cy="1241822"/>
          </a:xfrm>
          <a:prstGeom prst="roundRect">
            <a:avLst>
              <a:gd name="adj" fmla="val 7670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60798" y="2474565"/>
            <a:ext cx="357530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Emoji Analysis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60798" y="2752576"/>
            <a:ext cx="357530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 with emojis: </a:t>
            </a:r>
            <a:r>
              <a:rPr lang="en-US" sz="975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~5%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4860798" y="3002012"/>
            <a:ext cx="357530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63"/>
              </a:lnSpc>
              <a:buNone/>
            </a:pPr>
            <a:r>
              <a:rPr lang="en-US" sz="975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emojis found: </a:t>
            </a:r>
            <a:r>
              <a:rPr lang="en-US" sz="975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</a:t>
            </a:r>
            <a:r>
              <a:rPr lang="en-US" sz="975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different types requiring demojization for sentiment preservation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91440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Preprocessing Pipeline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62000" y="156210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99517" y="1619250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95400" y="1645890"/>
            <a:ext cx="249764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Lowercasing &amp; punctuation handling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62000" y="201930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99517" y="2076450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95400" y="2103090"/>
            <a:ext cx="218598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URL, mention, hashtag removal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247650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99517" y="2533650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95400" y="2560290"/>
            <a:ext cx="312945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Emoji-to-text conversion (😡 → "angry_face")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2000" y="293370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99517" y="2990850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95400" y="3017490"/>
            <a:ext cx="272170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Stopword removal (preserve negations)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2000" y="339090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99517" y="3448050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95400" y="3474690"/>
            <a:ext cx="269984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Contraction expansion (don't → do not)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62000" y="384810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99517" y="3905250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95400" y="3931890"/>
            <a:ext cx="266963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normalization &amp; lemmatization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20501" y="628650"/>
            <a:ext cx="57029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 Feature Extraction</a:t>
            </a:r>
            <a:endParaRPr lang="en-US" sz="3600" dirty="0"/>
          </a:p>
        </p:txBody>
      </p:sp>
      <p:pic>
        <p:nvPicPr>
          <p:cNvPr id="3" name="Image 0" descr="/tmp/rasterized-gradient-40f9e45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76350"/>
            <a:ext cx="3848100" cy="22059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7329" y="1466850"/>
            <a:ext cx="3536442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20"/>
              </a:lnSpc>
              <a:spcAft>
                <a:spcPts val="105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 Configuration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62000" y="1805880"/>
            <a:ext cx="3467100" cy="14859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ctr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Features: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10,000</a:t>
            </a:r>
            <a:endParaRPr lang="en-US" sz="1350" dirty="0"/>
          </a:p>
          <a:p>
            <a:pPr marL="85725" indent="-85725" algn="ctr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N-gram Range: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(1, 2)</a:t>
            </a:r>
            <a:endParaRPr lang="en-US" sz="1350" dirty="0"/>
          </a:p>
          <a:p>
            <a:pPr marL="85725" indent="-85725" algn="ctr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DF: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Default</a:t>
            </a:r>
            <a:endParaRPr lang="en-US" sz="1350" dirty="0"/>
          </a:p>
          <a:p>
            <a:pPr marL="85725" indent="-85725" algn="ctr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DF: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Default</a:t>
            </a:r>
            <a:endParaRPr lang="en-US" sz="1350" dirty="0"/>
          </a:p>
          <a:p>
            <a:pPr marL="85725" indent="-85725" algn="ctr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Tokenizer: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Word-based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71500" y="3634680"/>
            <a:ext cx="3848100" cy="1146721"/>
          </a:xfrm>
          <a:prstGeom prst="roundRect">
            <a:avLst>
              <a:gd name="adj" fmla="val 8306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88467" y="3787080"/>
            <a:ext cx="36141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Bi-grams?</a:t>
            </a:r>
            <a:endParaRPr lang="en-US" sz="1125" dirty="0"/>
          </a:p>
        </p:txBody>
      </p:sp>
      <p:sp>
        <p:nvSpPr>
          <p:cNvPr id="8" name="Text 5"/>
          <p:cNvSpPr/>
          <p:nvPr/>
        </p:nvSpPr>
        <p:spPr>
          <a:xfrm>
            <a:off x="688467" y="4034730"/>
            <a:ext cx="3614166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975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Uni-grams alone miss context. Bi-grams capture phrases like "not good" vs "good", crucial for negation handling in toxicity detection.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4724400" y="1706910"/>
            <a:ext cx="3848100" cy="1363861"/>
          </a:xfrm>
          <a:prstGeom prst="roundRect">
            <a:avLst>
              <a:gd name="adj" fmla="val 6984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841367" y="1859310"/>
            <a:ext cx="36141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 vs Bag-of-Words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4841367" y="2126010"/>
            <a:ext cx="36141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 (Used)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841367" y="2324100"/>
            <a:ext cx="36141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 terms by importance, reduces common word dominance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841367" y="2560290"/>
            <a:ext cx="36141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 (Not Used)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841367" y="2758380"/>
            <a:ext cx="36141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frequency count, common words dominate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724400" y="3223171"/>
            <a:ext cx="3848100" cy="1127671"/>
          </a:xfrm>
          <a:prstGeom prst="roundRect">
            <a:avLst>
              <a:gd name="adj" fmla="val 8447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841367" y="3375571"/>
            <a:ext cx="36141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Matrix</a:t>
            </a:r>
            <a:endParaRPr lang="en-US" sz="1125" dirty="0"/>
          </a:p>
        </p:txBody>
      </p:sp>
      <p:sp>
        <p:nvSpPr>
          <p:cNvPr id="17" name="Text 14"/>
          <p:cNvSpPr/>
          <p:nvPr/>
        </p:nvSpPr>
        <p:spPr>
          <a:xfrm>
            <a:off x="4841367" y="3623221"/>
            <a:ext cx="3614166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975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Sparse matrix: </a:t>
            </a:r>
            <a:r>
              <a:rPr lang="en-US" sz="975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(n_samples, 10000)</a:t>
            </a:r>
            <a:endParaRPr lang="en-US" sz="975" dirty="0"/>
          </a:p>
        </p:txBody>
      </p:sp>
      <p:sp>
        <p:nvSpPr>
          <p:cNvPr id="18" name="Text 15"/>
          <p:cNvSpPr/>
          <p:nvPr/>
        </p:nvSpPr>
        <p:spPr>
          <a:xfrm>
            <a:off x="4841367" y="3878461"/>
            <a:ext cx="361416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row represents a comment, each column a unique term/bi-gram with TF-IDF weight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2080" y="578197"/>
            <a:ext cx="785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Classical Machine Learning Models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71500" y="1225897"/>
            <a:ext cx="3848100" cy="3529905"/>
          </a:xfrm>
          <a:prstGeom prst="roundRect">
            <a:avLst>
              <a:gd name="adj" fmla="val 3238"/>
            </a:avLst>
          </a:prstGeom>
          <a:solidFill>
            <a:srgbClr val="EFF6FF"/>
          </a:solidFill>
          <a:ln w="28575">
            <a:solidFill>
              <a:srgbClr val="2563E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470565" y="1444972"/>
            <a:ext cx="2049970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33"/>
              </a:lnSpc>
              <a:spcAft>
                <a:spcPts val="1050"/>
              </a:spcAft>
              <a:buNone/>
            </a:pPr>
            <a:r>
              <a:rPr lang="en-US" sz="16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90575" y="1811089"/>
            <a:ext cx="3409950" cy="1645890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73062" y="1925389"/>
            <a:ext cx="324497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04875" y="2161580"/>
            <a:ext cx="3181350" cy="1181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ctr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OneVsRestClassifier strategy</a:t>
            </a:r>
            <a:endParaRPr lang="en-US" sz="1350" dirty="0"/>
          </a:p>
          <a:p>
            <a:pPr marL="85725" indent="-85725" algn="ctr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iterations: 1000</a:t>
            </a:r>
            <a:endParaRPr lang="en-US" sz="1350" dirty="0"/>
          </a:p>
          <a:p>
            <a:pPr marL="85725" indent="-85725" algn="ctr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weight: balanced</a:t>
            </a:r>
            <a:endParaRPr lang="en-US" sz="1350" dirty="0"/>
          </a:p>
          <a:p>
            <a:pPr marL="85725" indent="-85725" algn="ctr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Solver: liblinear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90575" y="3571280"/>
            <a:ext cx="3409950" cy="965448"/>
          </a:xfrm>
          <a:prstGeom prst="roundRect">
            <a:avLst>
              <a:gd name="adj" fmla="val 7893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73062" y="3685580"/>
            <a:ext cx="324497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73062" y="3902720"/>
            <a:ext cx="324497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F1-Score: </a:t>
            </a:r>
            <a:r>
              <a:rPr lang="en-US" sz="975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873062" y="4075956"/>
            <a:ext cx="324497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Accuracy: </a:t>
            </a:r>
            <a:r>
              <a:rPr lang="en-US" sz="975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873062" y="4249192"/>
            <a:ext cx="324497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ROC-AUC: </a:t>
            </a:r>
            <a:r>
              <a:rPr lang="en-US" sz="975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724400" y="1225897"/>
            <a:ext cx="3848100" cy="3529905"/>
          </a:xfrm>
          <a:prstGeom prst="roundRect">
            <a:avLst>
              <a:gd name="adj" fmla="val 3238"/>
            </a:avLst>
          </a:prstGeom>
          <a:solidFill>
            <a:srgbClr val="FEF3C7"/>
          </a:solidFill>
          <a:ln w="28575">
            <a:solidFill>
              <a:srgbClr val="F59E0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424297" y="1444972"/>
            <a:ext cx="2448306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33"/>
              </a:lnSpc>
              <a:spcAft>
                <a:spcPts val="1050"/>
              </a:spcAft>
              <a:buNone/>
            </a:pPr>
            <a:r>
              <a:rPr lang="en-US" sz="16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Vector Machine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943475" y="1811089"/>
            <a:ext cx="3409950" cy="1645890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025962" y="1925389"/>
            <a:ext cx="324497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57775" y="2161580"/>
            <a:ext cx="3181350" cy="1181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ctr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LinearSVC (linear kernel)</a:t>
            </a:r>
            <a:endParaRPr lang="en-US" sz="1350" dirty="0"/>
          </a:p>
          <a:p>
            <a:pPr marL="85725" indent="-85725" algn="ctr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OneVsRestClassifier strategy</a:t>
            </a:r>
            <a:endParaRPr lang="en-US" sz="1350" dirty="0"/>
          </a:p>
          <a:p>
            <a:pPr marL="85725" indent="-85725" algn="ctr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weight: balanced</a:t>
            </a:r>
            <a:endParaRPr lang="en-US" sz="1350" dirty="0"/>
          </a:p>
          <a:p>
            <a:pPr marL="85725" indent="-85725" algn="ctr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Dual: auto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943475" y="3571280"/>
            <a:ext cx="3409950" cy="965448"/>
          </a:xfrm>
          <a:prstGeom prst="roundRect">
            <a:avLst>
              <a:gd name="adj" fmla="val 7893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025962" y="3685580"/>
            <a:ext cx="324497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5962" y="3902720"/>
            <a:ext cx="324497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F1-Score: </a:t>
            </a:r>
            <a:r>
              <a:rPr lang="en-US" sz="975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5025962" y="4075956"/>
            <a:ext cx="324497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Accuracy: </a:t>
            </a:r>
            <a:r>
              <a:rPr lang="en-US" sz="975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5025962" y="4249192"/>
            <a:ext cx="324497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ROC-AUC: </a:t>
            </a:r>
            <a:r>
              <a:rPr lang="en-US" sz="975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63872" y="754559"/>
            <a:ext cx="6616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&amp; Validation Strategy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71500" y="1682353"/>
            <a:ext cx="3848100" cy="1432173"/>
          </a:xfrm>
          <a:prstGeom prst="roundRect">
            <a:avLst>
              <a:gd name="adj" fmla="val 7981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95313" y="1682353"/>
            <a:ext cx="0" cy="1432173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5" name="Text 3"/>
          <p:cNvSpPr/>
          <p:nvPr/>
        </p:nvSpPr>
        <p:spPr>
          <a:xfrm>
            <a:off x="755999" y="1853803"/>
            <a:ext cx="35267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4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Splitting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83945" y="2170807"/>
            <a:ext cx="67629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Set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3940001" y="2150864"/>
            <a:ext cx="3112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3025" y="2460278"/>
            <a:ext cx="77010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Set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3940001" y="2440335"/>
            <a:ext cx="3112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6101" y="2749748"/>
            <a:ext cx="45632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Set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3940001" y="2729805"/>
            <a:ext cx="3112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1500" y="3247876"/>
            <a:ext cx="3848100" cy="917972"/>
          </a:xfrm>
          <a:prstGeom prst="roundRect">
            <a:avLst>
              <a:gd name="adj" fmla="val 10376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88467" y="3400276"/>
            <a:ext cx="36141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Weight Balancing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688467" y="3647926"/>
            <a:ext cx="3614166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balanced class weights to handle remaining label imbalance within toxic categories. Prevents model bias toward frequent labels.</a:t>
            </a:r>
            <a:endParaRPr lang="en-US" sz="900" dirty="0"/>
          </a:p>
        </p:txBody>
      </p:sp>
      <p:pic>
        <p:nvPicPr>
          <p:cNvPr id="15" name="Image 0" descr="/tmp/rasterized-gradient-836138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1402259"/>
            <a:ext cx="3848100" cy="2125861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860798" y="1573709"/>
            <a:ext cx="357530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4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Process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95850" y="1870770"/>
            <a:ext cx="3505200" cy="14859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ctr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seed: 42 for reproducibility</a:t>
            </a:r>
            <a:endParaRPr lang="en-US" sz="1350" dirty="0"/>
          </a:p>
          <a:p>
            <a:pPr marL="85725" indent="-85725" algn="ctr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Stratified split maintains label distribution</a:t>
            </a:r>
            <a:endParaRPr lang="en-US" sz="1350" dirty="0"/>
          </a:p>
          <a:p>
            <a:pPr marL="85725" indent="-85725" algn="ctr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guides hyperparameter tuning</a:t>
            </a:r>
            <a:endParaRPr lang="en-US" sz="1350" dirty="0"/>
          </a:p>
          <a:p>
            <a:pPr marL="85725" indent="-85725" algn="ctr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stopping prevents overfitting</a:t>
            </a:r>
            <a:endParaRPr lang="en-US" sz="1350" dirty="0"/>
          </a:p>
          <a:p>
            <a:pPr marL="85725" indent="-85725" algn="ctr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set untouched until final evaluation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4724400" y="3661470"/>
            <a:ext cx="3848100" cy="917972"/>
          </a:xfrm>
          <a:prstGeom prst="roundRect">
            <a:avLst>
              <a:gd name="adj" fmla="val 10376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4841367" y="3813870"/>
            <a:ext cx="36141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Metrics</a:t>
            </a:r>
            <a:endParaRPr lang="en-US" sz="1125" dirty="0"/>
          </a:p>
        </p:txBody>
      </p:sp>
      <p:sp>
        <p:nvSpPr>
          <p:cNvPr id="20" name="Text 17"/>
          <p:cNvSpPr/>
          <p:nvPr/>
        </p:nvSpPr>
        <p:spPr>
          <a:xfrm>
            <a:off x="4841367" y="4061520"/>
            <a:ext cx="3614166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900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Monitored validation loss and AUC score during training. Models showed convergence around epoch 3-5 with minimal overfitting.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79974" y="990154"/>
            <a:ext cx="49840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Aft>
                <a:spcPts val="1800"/>
              </a:spcAft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Models</a:t>
            </a:r>
            <a:endParaRPr lang="en-US" sz="3600" dirty="0"/>
          </a:p>
        </p:txBody>
      </p:sp>
      <p:pic>
        <p:nvPicPr>
          <p:cNvPr id="3" name="Image 0" descr="/tmp/rasterized-gradient-b8a55f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75954"/>
            <a:ext cx="2463850" cy="1667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8998" y="1866454"/>
            <a:ext cx="1068705" cy="296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33"/>
              </a:lnSpc>
              <a:spcAft>
                <a:spcPts val="9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741172" y="2277070"/>
            <a:ext cx="2124507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Convolutional layers detect toxic patterns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41172" y="2726531"/>
            <a:ext cx="2124507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F1: 73%</a:t>
            </a:r>
            <a:endParaRPr lang="en-US" sz="2400" dirty="0"/>
          </a:p>
        </p:txBody>
      </p:sp>
      <p:pic>
        <p:nvPicPr>
          <p:cNvPr id="7" name="Image 1" descr="/tmp/rasterized-gradient-ef9c70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0150" y="1769269"/>
            <a:ext cx="2463850" cy="148113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037647" y="1959769"/>
            <a:ext cx="1068705" cy="296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33"/>
              </a:lnSpc>
              <a:spcAft>
                <a:spcPts val="9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3509821" y="2370386"/>
            <a:ext cx="212450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dependency modeling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3509821" y="2633216"/>
            <a:ext cx="2124507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F1: 70%</a:t>
            </a:r>
            <a:endParaRPr lang="en-US" sz="2400" dirty="0"/>
          </a:p>
        </p:txBody>
      </p:sp>
      <p:pic>
        <p:nvPicPr>
          <p:cNvPr id="11" name="Image 2" descr="/tmp/rasterized-gradient-bec82c8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8799" y="1769269"/>
            <a:ext cx="2463850" cy="148113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806297" y="1959769"/>
            <a:ext cx="1068705" cy="296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33"/>
              </a:lnSpc>
              <a:spcAft>
                <a:spcPts val="9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</a:t>
            </a:r>
            <a:endParaRPr lang="en-US" sz="2100" dirty="0"/>
          </a:p>
        </p:txBody>
      </p:sp>
      <p:sp>
        <p:nvSpPr>
          <p:cNvPr id="13" name="Text 8"/>
          <p:cNvSpPr/>
          <p:nvPr/>
        </p:nvSpPr>
        <p:spPr>
          <a:xfrm>
            <a:off x="6278471" y="2370386"/>
            <a:ext cx="212450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Simplified gating mechanism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6278471" y="2633216"/>
            <a:ext cx="2124507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F1: 71%</a:t>
            </a:r>
            <a:endParaRPr lang="en-US" sz="2400" dirty="0"/>
          </a:p>
        </p:txBody>
      </p:sp>
      <p:sp>
        <p:nvSpPr>
          <p:cNvPr id="15" name="Text 10"/>
          <p:cNvSpPr/>
          <p:nvPr/>
        </p:nvSpPr>
        <p:spPr>
          <a:xfrm>
            <a:off x="571500" y="3572321"/>
            <a:ext cx="8001000" cy="581025"/>
          </a:xfrm>
          <a:prstGeom prst="roundRect">
            <a:avLst>
              <a:gd name="adj" fmla="val 19672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685800" y="3762821"/>
            <a:ext cx="77724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1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models: Embedding (20K vocab, 128-dim) → Architecture → Dense (6, Sigmoid)</a:t>
            </a:r>
            <a:endParaRPr lang="en-US" sz="11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03083" y="393799"/>
            <a:ext cx="55378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Architecture Details</a:t>
            </a:r>
            <a:endParaRPr lang="en-US" sz="3600" dirty="0"/>
          </a:p>
        </p:txBody>
      </p:sp>
      <p:pic>
        <p:nvPicPr>
          <p:cNvPr id="3" name="Image 0" descr="/tmp/rasterized-gradient-234d44a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041499"/>
            <a:ext cx="3848100" cy="37653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7898" y="1212949"/>
            <a:ext cx="3575304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30"/>
              </a:lnSpc>
              <a:spcAft>
                <a:spcPts val="900"/>
              </a:spcAft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Architecture</a:t>
            </a:r>
            <a:endParaRPr lang="en-US" sz="1275" dirty="0"/>
          </a:p>
        </p:txBody>
      </p:sp>
      <p:sp>
        <p:nvSpPr>
          <p:cNvPr id="5" name="Text 2"/>
          <p:cNvSpPr/>
          <p:nvPr/>
        </p:nvSpPr>
        <p:spPr>
          <a:xfrm>
            <a:off x="742950" y="1521470"/>
            <a:ext cx="3505200" cy="561826"/>
          </a:xfrm>
          <a:prstGeom prst="roundRect">
            <a:avLst>
              <a:gd name="adj" fmla="val 10172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05053" y="1616720"/>
            <a:ext cx="338099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Layer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805053" y="1828056"/>
            <a:ext cx="338099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Vocab: 20,000 | Dimensions: 128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42950" y="2159496"/>
            <a:ext cx="3505200" cy="561826"/>
          </a:xfrm>
          <a:prstGeom prst="roundRect">
            <a:avLst>
              <a:gd name="adj" fmla="val 10172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805053" y="2254746"/>
            <a:ext cx="338099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Conv1D Layer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805053" y="2466082"/>
            <a:ext cx="338099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Filters: 128 | Kernel Size: 5 | ReLU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42950" y="2797522"/>
            <a:ext cx="3505200" cy="561826"/>
          </a:xfrm>
          <a:prstGeom prst="roundRect">
            <a:avLst>
              <a:gd name="adj" fmla="val 10172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805053" y="2892772"/>
            <a:ext cx="338099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GlobalMaxPooling1D</a:t>
            </a:r>
            <a:endParaRPr lang="en-US" sz="975" dirty="0"/>
          </a:p>
        </p:txBody>
      </p:sp>
      <p:sp>
        <p:nvSpPr>
          <p:cNvPr id="13" name="Text 10"/>
          <p:cNvSpPr/>
          <p:nvPr/>
        </p:nvSpPr>
        <p:spPr>
          <a:xfrm>
            <a:off x="805053" y="3104108"/>
            <a:ext cx="338099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Extracts most important features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42950" y="3435548"/>
            <a:ext cx="3505200" cy="561826"/>
          </a:xfrm>
          <a:prstGeom prst="roundRect">
            <a:avLst>
              <a:gd name="adj" fmla="val 10172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805053" y="3530798"/>
            <a:ext cx="338099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+ Dropout</a:t>
            </a:r>
            <a:endParaRPr lang="en-US" sz="975" dirty="0"/>
          </a:p>
        </p:txBody>
      </p:sp>
      <p:sp>
        <p:nvSpPr>
          <p:cNvPr id="16" name="Text 13"/>
          <p:cNvSpPr/>
          <p:nvPr/>
        </p:nvSpPr>
        <p:spPr>
          <a:xfrm>
            <a:off x="805053" y="3742134"/>
            <a:ext cx="338099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units ReLU | Dropout: 0.5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42950" y="4073575"/>
            <a:ext cx="3505200" cy="561826"/>
          </a:xfrm>
          <a:prstGeom prst="roundRect">
            <a:avLst>
              <a:gd name="adj" fmla="val 10172"/>
            </a:avLst>
          </a:prstGeom>
          <a:solidFill>
            <a:srgbClr val="FFFFFF">
              <a:alpha val="2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805053" y="4168825"/>
            <a:ext cx="338099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Layer</a:t>
            </a:r>
            <a:endParaRPr lang="en-US" sz="975" dirty="0"/>
          </a:p>
        </p:txBody>
      </p:sp>
      <p:sp>
        <p:nvSpPr>
          <p:cNvPr id="19" name="Text 16"/>
          <p:cNvSpPr/>
          <p:nvPr/>
        </p:nvSpPr>
        <p:spPr>
          <a:xfrm>
            <a:off x="805053" y="4380161"/>
            <a:ext cx="338099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units | Sigmoid activation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724400" y="1260425"/>
            <a:ext cx="3848100" cy="1676251"/>
          </a:xfrm>
          <a:prstGeom prst="roundRect">
            <a:avLst>
              <a:gd name="adj" fmla="val 5682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841367" y="1412825"/>
            <a:ext cx="36141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Configuration</a:t>
            </a:r>
            <a:endParaRPr lang="en-US" sz="1125" dirty="0"/>
          </a:p>
        </p:txBody>
      </p:sp>
      <p:sp>
        <p:nvSpPr>
          <p:cNvPr id="22" name="Text 19"/>
          <p:cNvSpPr/>
          <p:nvPr/>
        </p:nvSpPr>
        <p:spPr>
          <a:xfrm>
            <a:off x="4869683" y="1679525"/>
            <a:ext cx="7259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Function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278146" y="1679525"/>
            <a:ext cx="11532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Crossentropy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871910" y="1915716"/>
            <a:ext cx="4988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Optimizer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099325" y="1915716"/>
            <a:ext cx="3239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871335" y="2151906"/>
            <a:ext cx="55742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Size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291579" y="2151906"/>
            <a:ext cx="1297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872987" y="2388096"/>
            <a:ext cx="388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Epochs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8355765" y="2388096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873117" y="2624286"/>
            <a:ext cx="3757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7483629" y="2624286"/>
            <a:ext cx="94574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(multi-label)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4724400" y="3070027"/>
            <a:ext cx="3848100" cy="917972"/>
          </a:xfrm>
          <a:prstGeom prst="roundRect">
            <a:avLst>
              <a:gd name="adj" fmla="val 10376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4841367" y="3222427"/>
            <a:ext cx="36141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CNN for Text?</a:t>
            </a:r>
            <a:endParaRPr lang="en-US" sz="1125" dirty="0"/>
          </a:p>
        </p:txBody>
      </p:sp>
      <p:sp>
        <p:nvSpPr>
          <p:cNvPr id="34" name="Text 31"/>
          <p:cNvSpPr/>
          <p:nvPr/>
        </p:nvSpPr>
        <p:spPr>
          <a:xfrm>
            <a:off x="4841367" y="3470077"/>
            <a:ext cx="3614166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900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Convolutional filters act as n-gram detectors, identifying local patterns and toxic phrases regardless of position in text.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724400" y="4121348"/>
            <a:ext cx="3848100" cy="599926"/>
          </a:xfrm>
          <a:prstGeom prst="roundRect">
            <a:avLst>
              <a:gd name="adj" fmla="val 15877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4802505" y="4235648"/>
            <a:ext cx="369189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Parameters: ~2.7M</a:t>
            </a:r>
            <a:endParaRPr lang="en-US" sz="975" dirty="0"/>
          </a:p>
        </p:txBody>
      </p:sp>
      <p:sp>
        <p:nvSpPr>
          <p:cNvPr id="37" name="Text 34"/>
          <p:cNvSpPr/>
          <p:nvPr/>
        </p:nvSpPr>
        <p:spPr>
          <a:xfrm>
            <a:off x="4802505" y="4446984"/>
            <a:ext cx="369189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Trainable: All layers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60195" y="724644"/>
            <a:ext cx="602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Aft>
                <a:spcPts val="2100"/>
              </a:spcAft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&amp; GRU Architectures</a:t>
            </a:r>
            <a:endParaRPr lang="en-US" sz="3600" dirty="0"/>
          </a:p>
        </p:txBody>
      </p:sp>
      <p:pic>
        <p:nvPicPr>
          <p:cNvPr id="3" name="Image 0" descr="/tmp/rasterized-gradient-0ac3c1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48544"/>
            <a:ext cx="3848100" cy="22845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6582" y="1639044"/>
            <a:ext cx="1777937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62000" y="2045345"/>
            <a:ext cx="3467100" cy="464790"/>
          </a:xfrm>
          <a:prstGeom prst="roundRect">
            <a:avLst>
              <a:gd name="adj" fmla="val 16395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63346" y="2178695"/>
            <a:ext cx="3264408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Embedding(20K, 128) → LSTM(64) → Dense(6, Sigmoid)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762000" y="2643485"/>
            <a:ext cx="3467100" cy="899071"/>
          </a:xfrm>
          <a:prstGeom prst="roundRect">
            <a:avLst>
              <a:gd name="adj" fmla="val 8475"/>
            </a:avLst>
          </a:prstGeom>
          <a:solidFill>
            <a:srgbClr val="FFFFFF">
              <a:alpha val="2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43915" y="2757785"/>
            <a:ext cx="330327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F1-Score: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43915" y="3001566"/>
            <a:ext cx="330327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spcBef>
                <a:spcPts val="450"/>
              </a:spcBef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2400" dirty="0"/>
          </a:p>
        </p:txBody>
      </p:sp>
      <p:pic>
        <p:nvPicPr>
          <p:cNvPr id="10" name="Image 1" descr="/tmp/rasterized-gradient-b0057a2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1448544"/>
            <a:ext cx="3848100" cy="22845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759482" y="1639044"/>
            <a:ext cx="1777937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914900" y="2045345"/>
            <a:ext cx="3467100" cy="464790"/>
          </a:xfrm>
          <a:prstGeom prst="roundRect">
            <a:avLst>
              <a:gd name="adj" fmla="val 16395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5016246" y="2178695"/>
            <a:ext cx="3264408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Embedding(20K, 128) → GRU(64) → Dense(6, Sigmoid)</a:t>
            </a:r>
            <a:endParaRPr lang="en-US" sz="975" dirty="0"/>
          </a:p>
        </p:txBody>
      </p:sp>
      <p:sp>
        <p:nvSpPr>
          <p:cNvPr id="14" name="Text 10"/>
          <p:cNvSpPr/>
          <p:nvPr/>
        </p:nvSpPr>
        <p:spPr>
          <a:xfrm>
            <a:off x="4914900" y="2643485"/>
            <a:ext cx="3467100" cy="899071"/>
          </a:xfrm>
          <a:prstGeom prst="roundRect">
            <a:avLst>
              <a:gd name="adj" fmla="val 8475"/>
            </a:avLst>
          </a:prstGeom>
          <a:solidFill>
            <a:srgbClr val="FFFFFF">
              <a:alpha val="2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4996815" y="2757785"/>
            <a:ext cx="330327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F1-Score: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996815" y="3001566"/>
            <a:ext cx="330327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spcBef>
                <a:spcPts val="450"/>
              </a:spcBef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571500" y="3923556"/>
            <a:ext cx="8001000" cy="800100"/>
          </a:xfrm>
          <a:prstGeom prst="roundRect">
            <a:avLst>
              <a:gd name="adj" fmla="val 11905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666369" y="4095006"/>
            <a:ext cx="78112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25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models capture sequential dependencies in text. GRU achieves similar performance with faster training due to simpler gating mechanism.</a:t>
            </a:r>
            <a:endParaRPr lang="en-US" sz="11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58530" y="664220"/>
            <a:ext cx="52269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Hyperparameter Tuning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71500" y="1311920"/>
            <a:ext cx="3848100" cy="2196108"/>
          </a:xfrm>
          <a:prstGeom prst="roundRect">
            <a:avLst>
              <a:gd name="adj" fmla="val 5205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95313" y="1311920"/>
            <a:ext cx="0" cy="2196108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5" name="Text 3"/>
          <p:cNvSpPr/>
          <p:nvPr/>
        </p:nvSpPr>
        <p:spPr>
          <a:xfrm>
            <a:off x="755999" y="1483370"/>
            <a:ext cx="3526727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30"/>
              </a:lnSpc>
              <a:spcAft>
                <a:spcPts val="900"/>
              </a:spcAft>
              <a:buNone/>
            </a:pPr>
            <a:r>
              <a:rPr lang="en-US" sz="1275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 Grid Search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790575" y="1791891"/>
            <a:ext cx="3457575" cy="778966"/>
          </a:xfrm>
          <a:prstGeom prst="roundRect">
            <a:avLst>
              <a:gd name="adj" fmla="val 978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72585" y="1906191"/>
            <a:ext cx="32935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Space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872585" y="2136577"/>
            <a:ext cx="32935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C: [0.01, 0.1, 1, 10]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72585" y="2296567"/>
            <a:ext cx="32935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Penalty: [l1, l2]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90575" y="2666107"/>
            <a:ext cx="3457575" cy="670471"/>
          </a:xfrm>
          <a:prstGeom prst="roundRect">
            <a:avLst>
              <a:gd name="adj" fmla="val 11365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53154" y="2761357"/>
            <a:ext cx="33324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Best: C=1, penalty=l2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53154" y="2921347"/>
            <a:ext cx="33324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CV: 3-fold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53154" y="3081338"/>
            <a:ext cx="33324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Scoring: f1_micro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24400" y="1391841"/>
            <a:ext cx="3848100" cy="2036118"/>
          </a:xfrm>
          <a:prstGeom prst="roundRect">
            <a:avLst>
              <a:gd name="adj" fmla="val 561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748213" y="1391841"/>
            <a:ext cx="0" cy="2036118"/>
          </a:xfrm>
          <a:prstGeom prst="line">
            <a:avLst/>
          </a:prstGeom>
          <a:noFill/>
          <a:ln w="476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6" name="Text 14"/>
          <p:cNvSpPr/>
          <p:nvPr/>
        </p:nvSpPr>
        <p:spPr>
          <a:xfrm>
            <a:off x="4908899" y="1563291"/>
            <a:ext cx="3526727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30"/>
              </a:lnSpc>
              <a:spcAft>
                <a:spcPts val="900"/>
              </a:spcAft>
              <a:buNone/>
            </a:pPr>
            <a:r>
              <a:rPr lang="en-US" sz="127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 Grid Search</a:t>
            </a:r>
            <a:endParaRPr lang="en-US" sz="1275" dirty="0"/>
          </a:p>
        </p:txBody>
      </p:sp>
      <p:sp>
        <p:nvSpPr>
          <p:cNvPr id="17" name="Text 15"/>
          <p:cNvSpPr/>
          <p:nvPr/>
        </p:nvSpPr>
        <p:spPr>
          <a:xfrm>
            <a:off x="4943475" y="1871811"/>
            <a:ext cx="3457575" cy="618976"/>
          </a:xfrm>
          <a:prstGeom prst="roundRect">
            <a:avLst>
              <a:gd name="adj" fmla="val 1231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025485" y="1986111"/>
            <a:ext cx="32935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Space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5025485" y="2216497"/>
            <a:ext cx="32935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C: [0.01, 0.1, 1, 10]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43475" y="2586038"/>
            <a:ext cx="3457575" cy="670471"/>
          </a:xfrm>
          <a:prstGeom prst="roundRect">
            <a:avLst>
              <a:gd name="adj" fmla="val 11365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006054" y="2681288"/>
            <a:ext cx="33324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Best: C=1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06054" y="2841278"/>
            <a:ext cx="33324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CV: 3-fold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06054" y="3001268"/>
            <a:ext cx="33324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Scoring: f1_micro</a:t>
            </a:r>
            <a:endParaRPr lang="en-US" sz="900" dirty="0"/>
          </a:p>
        </p:txBody>
      </p:sp>
      <p:pic>
        <p:nvPicPr>
          <p:cNvPr id="24" name="Image 0" descr="/tmp/rasterized-gradient-aeb305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660428"/>
            <a:ext cx="8001000" cy="1009352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66369" y="3831878"/>
            <a:ext cx="7811262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30"/>
              </a:lnSpc>
              <a:spcAft>
                <a:spcPts val="900"/>
              </a:spcAft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Configurations Tested</a:t>
            </a:r>
            <a:endParaRPr lang="en-US" sz="1275" dirty="0"/>
          </a:p>
        </p:txBody>
      </p:sp>
      <p:sp>
        <p:nvSpPr>
          <p:cNvPr id="26" name="Text 23"/>
          <p:cNvSpPr/>
          <p:nvPr/>
        </p:nvSpPr>
        <p:spPr>
          <a:xfrm>
            <a:off x="719455" y="4140398"/>
            <a:ext cx="239654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 1 (Selected)</a:t>
            </a:r>
            <a:endParaRPr lang="en-US" sz="975" dirty="0"/>
          </a:p>
        </p:txBody>
      </p:sp>
      <p:sp>
        <p:nvSpPr>
          <p:cNvPr id="27" name="Text 24"/>
          <p:cNvSpPr/>
          <p:nvPr/>
        </p:nvSpPr>
        <p:spPr>
          <a:xfrm>
            <a:off x="719455" y="4351734"/>
            <a:ext cx="239654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Filters: 128, Kernel: 5, Dropout: 0.5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3373804" y="4140398"/>
            <a:ext cx="239654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 2</a:t>
            </a:r>
            <a:endParaRPr lang="en-US" sz="975" dirty="0"/>
          </a:p>
        </p:txBody>
      </p:sp>
      <p:sp>
        <p:nvSpPr>
          <p:cNvPr id="29" name="Text 26"/>
          <p:cNvSpPr/>
          <p:nvPr/>
        </p:nvSpPr>
        <p:spPr>
          <a:xfrm>
            <a:off x="3373804" y="4351734"/>
            <a:ext cx="239654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Filters: 256, Kernel: 5, Dropout: 0.5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6028154" y="4140398"/>
            <a:ext cx="239654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 3</a:t>
            </a:r>
            <a:endParaRPr lang="en-US" sz="975" dirty="0"/>
          </a:p>
        </p:txBody>
      </p:sp>
      <p:sp>
        <p:nvSpPr>
          <p:cNvPr id="31" name="Text 28"/>
          <p:cNvSpPr/>
          <p:nvPr/>
        </p:nvSpPr>
        <p:spPr>
          <a:xfrm>
            <a:off x="6028154" y="4351734"/>
            <a:ext cx="239654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Filters: 128, Kernel: 3, Dropout: 0.3</a:t>
            </a:r>
            <a:endParaRPr lang="en-US" sz="8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3567" y="560040"/>
            <a:ext cx="69368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Tuning Methodology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71500" y="1207740"/>
            <a:ext cx="8001000" cy="3413671"/>
          </a:xfrm>
          <a:prstGeom prst="roundRect">
            <a:avLst>
              <a:gd name="adj" fmla="val 3348"/>
            </a:avLst>
          </a:prstGeom>
          <a:solidFill>
            <a:srgbClr val="EFF6FF"/>
          </a:solidFill>
          <a:ln w="28575">
            <a:solidFill>
              <a:srgbClr val="2563E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14947" y="1426815"/>
            <a:ext cx="7714107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30"/>
              </a:lnSpc>
              <a:spcAft>
                <a:spcPts val="900"/>
              </a:spcAft>
              <a:buNone/>
            </a:pPr>
            <a:r>
              <a:rPr lang="en-US" sz="1275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790575" y="1735336"/>
            <a:ext cx="7562850" cy="2667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50964" y="1868686"/>
            <a:ext cx="74420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label in [toxic, severe_toxic, obscene, threat, insult, identity_hate]: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0964" y="2135386"/>
            <a:ext cx="7442073" cy="2667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best_f1 = 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0964" y="2402086"/>
            <a:ext cx="7442073" cy="2667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best_threshold = 0.5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50964" y="2668786"/>
            <a:ext cx="7442073" cy="2667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threshold in range(0.1, 0.9, 0.05):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50964" y="2935486"/>
            <a:ext cx="7442073" cy="266700"/>
          </a:xfrm>
          <a:prstGeom prst="rect">
            <a:avLst/>
          </a:prstGeom>
          <a:noFill/>
          <a:ln/>
        </p:spPr>
        <p:txBody>
          <a:bodyPr wrap="square" lIns="38100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y_pred = (y_prob[:, label_index] &gt;= threshold)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50964" y="3202186"/>
            <a:ext cx="7442073" cy="266700"/>
          </a:xfrm>
          <a:prstGeom prst="rect">
            <a:avLst/>
          </a:prstGeom>
          <a:noFill/>
          <a:ln/>
        </p:spPr>
        <p:txBody>
          <a:bodyPr wrap="square" lIns="38100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= f1_score(y_true[:, label_index], y_pred)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50964" y="3468886"/>
            <a:ext cx="7442073" cy="266700"/>
          </a:xfrm>
          <a:prstGeom prst="rect">
            <a:avLst/>
          </a:prstGeom>
          <a:noFill/>
          <a:ln/>
        </p:spPr>
        <p:txBody>
          <a:bodyPr wrap="square" lIns="38100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f1 &gt; best_f1: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50964" y="3735586"/>
            <a:ext cx="7442073" cy="266700"/>
          </a:xfrm>
          <a:prstGeom prst="rect">
            <a:avLst/>
          </a:prstGeom>
          <a:noFill/>
          <a:ln/>
        </p:spPr>
        <p:txBody>
          <a:bodyPr wrap="square" lIns="57150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best_f1 = f1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50964" y="4002286"/>
            <a:ext cx="7442073" cy="266700"/>
          </a:xfrm>
          <a:prstGeom prst="rect">
            <a:avLst/>
          </a:prstGeom>
          <a:noFill/>
          <a:ln/>
        </p:spPr>
        <p:txBody>
          <a:bodyPr wrap="square" lIns="57150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best_threshold = threshold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5843" y="815280"/>
            <a:ext cx="70923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Aft>
                <a:spcPts val="1800"/>
              </a:spcAft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Tuning Breakthrough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71500" y="1501080"/>
            <a:ext cx="3848100" cy="1290042"/>
          </a:xfrm>
          <a:prstGeom prst="roundRect">
            <a:avLst>
              <a:gd name="adj" fmla="val 8860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00075" y="1501080"/>
            <a:ext cx="0" cy="1290042"/>
          </a:xfrm>
          <a:prstGeom prst="line">
            <a:avLst/>
          </a:prstGeom>
          <a:noFill/>
          <a:ln w="571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5" name="Text 3"/>
          <p:cNvSpPr/>
          <p:nvPr/>
        </p:nvSpPr>
        <p:spPr>
          <a:xfrm>
            <a:off x="1669161" y="1729680"/>
            <a:ext cx="1709928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33"/>
              </a:lnSpc>
              <a:spcAft>
                <a:spcPts val="900"/>
              </a:spcAft>
              <a:buNone/>
            </a:pPr>
            <a:r>
              <a:rPr lang="en-US" sz="16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23913" y="2076748"/>
            <a:ext cx="340042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13"/>
              </a:lnSpc>
              <a:buNone/>
            </a:pPr>
            <a:r>
              <a:rPr lang="en-US" sz="11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0.5 threshold fails for rare labels like threat (0.3% frequency)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4724400" y="1501080"/>
            <a:ext cx="3848100" cy="1290042"/>
          </a:xfrm>
          <a:prstGeom prst="roundRect">
            <a:avLst>
              <a:gd name="adj" fmla="val 8860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752975" y="1501080"/>
            <a:ext cx="0" cy="1290042"/>
          </a:xfrm>
          <a:prstGeom prst="line">
            <a:avLst/>
          </a:prstGeom>
          <a:noFill/>
          <a:ln w="571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9" name="Text 7"/>
          <p:cNvSpPr/>
          <p:nvPr/>
        </p:nvSpPr>
        <p:spPr>
          <a:xfrm>
            <a:off x="5822061" y="1729680"/>
            <a:ext cx="1709928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33"/>
              </a:lnSpc>
              <a:spcAft>
                <a:spcPts val="900"/>
              </a:spcAft>
              <a:buNone/>
            </a:pPr>
            <a:r>
              <a:rPr lang="en-US" sz="16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4976813" y="2076748"/>
            <a:ext cx="340042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13"/>
              </a:lnSpc>
              <a:buNone/>
            </a:pPr>
            <a:r>
              <a:rPr lang="en-US" sz="1125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Per-label threshold optimization maximizes F1-score independently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571500" y="2981623"/>
            <a:ext cx="8001000" cy="1346597"/>
          </a:xfrm>
          <a:prstGeom prst="roundRect">
            <a:avLst>
              <a:gd name="adj" fmla="val 8488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24662" y="3210223"/>
            <a:ext cx="7694676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2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Optimized Thresholds (CNN)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302206" y="3568303"/>
            <a:ext cx="2597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toxic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2205201" y="3779639"/>
            <a:ext cx="45389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952496" y="3568303"/>
            <a:ext cx="7090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severe_toxic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3080013" y="3779639"/>
            <a:ext cx="45389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954741" y="3568303"/>
            <a:ext cx="47757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obscene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3966582" y="3779639"/>
            <a:ext cx="45389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0.50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93415" y="3568303"/>
            <a:ext cx="3230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4727987" y="3779639"/>
            <a:ext cx="45389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557178" y="3568303"/>
            <a:ext cx="29495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insult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5477783" y="3779639"/>
            <a:ext cx="45389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0.40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225006" y="3568303"/>
            <a:ext cx="71636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identity_hate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6356166" y="3779639"/>
            <a:ext cx="45389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0.20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93019" y="477738"/>
            <a:ext cx="65579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Performance Metrics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71500" y="1125438"/>
            <a:ext cx="8001000" cy="1605558"/>
          </a:xfrm>
          <a:prstGeom prst="roundRect">
            <a:avLst>
              <a:gd name="adj" fmla="val 7119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66369" y="1296888"/>
            <a:ext cx="781126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4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Model (Best Performer)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42950" y="1593949"/>
            <a:ext cx="2349550" cy="965597"/>
          </a:xfrm>
          <a:prstGeom prst="roundRect">
            <a:avLst>
              <a:gd name="adj" fmla="val 789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55472" y="1727299"/>
            <a:ext cx="212450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Metrics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867786" y="1989981"/>
            <a:ext cx="86847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Subset Accuracy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689482" y="1976735"/>
            <a:ext cx="27233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77" y="2252811"/>
            <a:ext cx="7775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Hamming Loss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696998" y="2239566"/>
            <a:ext cx="26474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397300" y="1593949"/>
            <a:ext cx="2349550" cy="965597"/>
          </a:xfrm>
          <a:prstGeom prst="roundRect">
            <a:avLst>
              <a:gd name="adj" fmla="val 789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09821" y="1727299"/>
            <a:ext cx="212450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&amp; Recall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3522076" y="1989981"/>
            <a:ext cx="8745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(Micro)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43832" y="1976735"/>
            <a:ext cx="27233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23600" y="2252811"/>
            <a:ext cx="7190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(Micro)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43832" y="2239566"/>
            <a:ext cx="27233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051649" y="1593949"/>
            <a:ext cx="2349550" cy="965597"/>
          </a:xfrm>
          <a:prstGeom prst="roundRect">
            <a:avLst>
              <a:gd name="adj" fmla="val 789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164171" y="1727299"/>
            <a:ext cx="212450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&amp; AUC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6176044" y="1989981"/>
            <a:ext cx="91340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 (Macro)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998181" y="1976735"/>
            <a:ext cx="27233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175410" y="2252811"/>
            <a:ext cx="97807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 (Macro)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998181" y="2239566"/>
            <a:ext cx="27233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71500" y="2864346"/>
            <a:ext cx="3848100" cy="1991916"/>
          </a:xfrm>
          <a:prstGeom prst="roundRect">
            <a:avLst>
              <a:gd name="adj" fmla="val 4782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88467" y="3016746"/>
            <a:ext cx="36141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Per-Label F1-Scores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721549" y="3289995"/>
            <a:ext cx="2398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toxic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016773" y="3283446"/>
            <a:ext cx="25290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721232" y="3539430"/>
            <a:ext cx="2721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insult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016773" y="3532882"/>
            <a:ext cx="25290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719578" y="3788866"/>
            <a:ext cx="44084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obscene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016773" y="3782318"/>
            <a:ext cx="25290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717483" y="4038302"/>
            <a:ext cx="6545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severe_toxic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016773" y="4031754"/>
            <a:ext cx="25290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717417" y="4287738"/>
            <a:ext cx="66126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identity_hate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016773" y="4281190"/>
            <a:ext cx="25290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720977" y="4537174"/>
            <a:ext cx="2981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016773" y="4530626"/>
            <a:ext cx="25290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975" dirty="0"/>
          </a:p>
        </p:txBody>
      </p:sp>
      <p:sp>
        <p:nvSpPr>
          <p:cNvPr id="37" name="Text 35"/>
          <p:cNvSpPr/>
          <p:nvPr/>
        </p:nvSpPr>
        <p:spPr>
          <a:xfrm>
            <a:off x="4724400" y="3170932"/>
            <a:ext cx="3848100" cy="1378744"/>
          </a:xfrm>
          <a:prstGeom prst="roundRect">
            <a:avLst>
              <a:gd name="adj" fmla="val 6908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841367" y="3323332"/>
            <a:ext cx="36141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1125" dirty="0"/>
          </a:p>
        </p:txBody>
      </p:sp>
      <p:sp>
        <p:nvSpPr>
          <p:cNvPr id="39" name="Text 37"/>
          <p:cNvSpPr/>
          <p:nvPr/>
        </p:nvSpPr>
        <p:spPr>
          <a:xfrm>
            <a:off x="4841367" y="3590032"/>
            <a:ext cx="3614166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Performance:</a:t>
            </a: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Toxic, insult, obscene labels show excellent detection (&gt;75% F1)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41367" y="4031754"/>
            <a:ext cx="3614166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90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Challenges:</a:t>
            </a: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Rare labels (threat, identity_hate) limited by training data despite threshold optimization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20017" y="304205"/>
            <a:ext cx="43039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Aft>
                <a:spcPts val="1800"/>
              </a:spcAft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Gradio Deployment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71500" y="990005"/>
            <a:ext cx="8001000" cy="1270546"/>
          </a:xfrm>
          <a:prstGeom prst="roundRect">
            <a:avLst>
              <a:gd name="adj" fmla="val 8996"/>
            </a:avLst>
          </a:prstGeom>
          <a:solidFill>
            <a:srgbClr val="F9FAFB"/>
          </a:solidFill>
          <a:ln w="28575">
            <a:solidFill>
              <a:srgbClr val="E5E7E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53809" y="1247180"/>
            <a:ext cx="763638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Input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28675" y="1548110"/>
            <a:ext cx="7486650" cy="455265"/>
          </a:xfrm>
          <a:prstGeom prst="roundRect">
            <a:avLst>
              <a:gd name="adj" fmla="val 1255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70395" y="1662410"/>
            <a:ext cx="7403211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85"/>
              </a:lnSpc>
              <a:buNone/>
            </a:pPr>
            <a:r>
              <a:rPr lang="en-US" sz="1275" i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"Wow great job 👏 you totally ruined everything 😂😂😂"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571500" y="2451050"/>
            <a:ext cx="3848100" cy="1340644"/>
          </a:xfrm>
          <a:prstGeom prst="roundRect">
            <a:avLst>
              <a:gd name="adj" fmla="val 8526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27329" y="2641550"/>
            <a:ext cx="353644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727329" y="2929086"/>
            <a:ext cx="353644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toxic: 0.97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727329" y="3178522"/>
            <a:ext cx="353644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insult: 0.63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727329" y="3427958"/>
            <a:ext cx="353644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obscene: 0.40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4724400" y="2451050"/>
            <a:ext cx="3848100" cy="1340644"/>
          </a:xfrm>
          <a:prstGeom prst="roundRect">
            <a:avLst>
              <a:gd name="adj" fmla="val 8526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80229" y="2641550"/>
            <a:ext cx="353644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Predictions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880229" y="2929086"/>
            <a:ext cx="353644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toxic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880229" y="3178522"/>
            <a:ext cx="353644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insult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880229" y="3427958"/>
            <a:ext cx="353644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obscene</a:t>
            </a:r>
            <a:endParaRPr lang="en-US" sz="975" dirty="0"/>
          </a:p>
        </p:txBody>
      </p:sp>
      <p:pic>
        <p:nvPicPr>
          <p:cNvPr id="17" name="Image 0" descr="/tmp/rasterized-gradient-81750a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982194"/>
            <a:ext cx="8001000" cy="857101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85800" y="4172694"/>
            <a:ext cx="77724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toxicity detection with full preprocessing pipeline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85800" y="4462165"/>
            <a:ext cx="77724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time: &lt;100ms on standard hardware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055C16B-1AA9-D487-35CC-2956A928A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6147"/>
            <a:ext cx="9144000" cy="385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6869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65A482B-286C-E0A8-04C2-C54EFB9C7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5481"/>
            <a:ext cx="9144000" cy="3592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8098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24E6285-0813-4F28-B2FA-B19060F00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1220"/>
            <a:ext cx="9144000" cy="3821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5162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C4BD884-98C7-53CB-BCD6-5BC936513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3472"/>
            <a:ext cx="9144000" cy="3536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7688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B27B78A-3069-4CDF-7CA9-09EB8DF69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2944"/>
            <a:ext cx="9144000" cy="3537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5353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83651" y="681186"/>
            <a:ext cx="557669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Limitations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71500" y="1328886"/>
            <a:ext cx="3848100" cy="3323779"/>
          </a:xfrm>
          <a:prstGeom prst="roundRect">
            <a:avLst>
              <a:gd name="adj" fmla="val 3439"/>
            </a:avLst>
          </a:prstGeom>
          <a:solidFill>
            <a:srgbClr val="FEE2E2"/>
          </a:solidFill>
          <a:ln w="28575">
            <a:solidFill>
              <a:srgbClr val="DC262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37045" y="1528911"/>
            <a:ext cx="3517011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30"/>
              </a:lnSpc>
              <a:spcAft>
                <a:spcPts val="1050"/>
              </a:spcAft>
              <a:buNone/>
            </a:pPr>
            <a:r>
              <a:rPr lang="en-US" sz="127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Limitations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771525" y="1856482"/>
            <a:ext cx="3448050" cy="801886"/>
          </a:xfrm>
          <a:prstGeom prst="roundRect">
            <a:avLst>
              <a:gd name="adj" fmla="val 95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53631" y="1970782"/>
            <a:ext cx="32838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Imbalance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853631" y="2201168"/>
            <a:ext cx="328383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Despite balancing, rare categories (threat 0.3%, identity_hate 0.8%) remain extremely underrepresented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1525" y="2753618"/>
            <a:ext cx="3448050" cy="801886"/>
          </a:xfrm>
          <a:prstGeom prst="roundRect">
            <a:avLst>
              <a:gd name="adj" fmla="val 95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53631" y="2867918"/>
            <a:ext cx="32838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Understanding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853631" y="3098304"/>
            <a:ext cx="328383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lacks broader conversational context - single comment analysis misses thread dynamics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1525" y="3650754"/>
            <a:ext cx="3448050" cy="801886"/>
          </a:xfrm>
          <a:prstGeom prst="roundRect">
            <a:avLst>
              <a:gd name="adj" fmla="val 95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3631" y="3765054"/>
            <a:ext cx="32838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Coverage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853631" y="3995440"/>
            <a:ext cx="328383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English-only training limits deployment in multilingual environments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24400" y="1328886"/>
            <a:ext cx="3848100" cy="3323779"/>
          </a:xfrm>
          <a:prstGeom prst="roundRect">
            <a:avLst>
              <a:gd name="adj" fmla="val 3439"/>
            </a:avLst>
          </a:prstGeom>
          <a:solidFill>
            <a:srgbClr val="FEF3C7"/>
          </a:solidFill>
          <a:ln w="28575">
            <a:solidFill>
              <a:srgbClr val="F59E0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89945" y="1528911"/>
            <a:ext cx="3517011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30"/>
              </a:lnSpc>
              <a:spcAft>
                <a:spcPts val="1050"/>
              </a:spcAft>
              <a:buNone/>
            </a:pPr>
            <a:r>
              <a:rPr lang="en-US" sz="127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Challenges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4924425" y="1856482"/>
            <a:ext cx="3448050" cy="801886"/>
          </a:xfrm>
          <a:prstGeom prst="roundRect">
            <a:avLst>
              <a:gd name="adj" fmla="val 95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006531" y="1970782"/>
            <a:ext cx="32838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Computational Cost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5006531" y="2201168"/>
            <a:ext cx="328383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models require GPU for training. Inference manageable on CPU but slower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24425" y="2753618"/>
            <a:ext cx="3448050" cy="801886"/>
          </a:xfrm>
          <a:prstGeom prst="roundRect">
            <a:avLst>
              <a:gd name="adj" fmla="val 95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006531" y="2867918"/>
            <a:ext cx="32838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Interpretability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5006531" y="3098304"/>
            <a:ext cx="328383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Black-box nature makes it difficult to explain decisions to users or moderators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24425" y="3650754"/>
            <a:ext cx="3448050" cy="801886"/>
          </a:xfrm>
          <a:prstGeom prst="roundRect">
            <a:avLst>
              <a:gd name="adj" fmla="val 95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006531" y="3765054"/>
            <a:ext cx="32838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Drift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5006531" y="3995440"/>
            <a:ext cx="328383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and toxicity patterns evolve - model needs continuous retraining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86845" y="618530"/>
            <a:ext cx="47703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Improvements</a:t>
            </a:r>
            <a:endParaRPr lang="en-US" sz="3600" dirty="0"/>
          </a:p>
        </p:txBody>
      </p:sp>
      <p:pic>
        <p:nvPicPr>
          <p:cNvPr id="3" name="Image 0" descr="/tmp/rasterized-gradient-a27d10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71600"/>
            <a:ext cx="3848100" cy="21373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7898" y="1543050"/>
            <a:ext cx="3575304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30"/>
              </a:lnSpc>
              <a:spcAft>
                <a:spcPts val="900"/>
              </a:spcAft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Models</a:t>
            </a:r>
            <a:endParaRPr lang="en-US" sz="1275" dirty="0"/>
          </a:p>
        </p:txBody>
      </p:sp>
      <p:sp>
        <p:nvSpPr>
          <p:cNvPr id="5" name="Text 2"/>
          <p:cNvSpPr/>
          <p:nvPr/>
        </p:nvSpPr>
        <p:spPr>
          <a:xfrm>
            <a:off x="742950" y="1851571"/>
            <a:ext cx="3505200" cy="14859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ctr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BERT: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Bidirectional context understanding</a:t>
            </a:r>
            <a:endParaRPr lang="en-US" sz="1350" dirty="0"/>
          </a:p>
          <a:p>
            <a:pPr marL="85725" indent="-85725" algn="ctr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RoBERTa: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Robustly optimized BERT</a:t>
            </a:r>
            <a:endParaRPr lang="en-US" sz="1350" dirty="0"/>
          </a:p>
          <a:p>
            <a:pPr marL="85725" indent="-85725" algn="ctr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XLNet: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Permutation language modeling</a:t>
            </a:r>
            <a:endParaRPr lang="en-US" sz="1350" dirty="0"/>
          </a:p>
          <a:p>
            <a:pPr marL="85725" indent="-85725" algn="ctr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Pre-trained on massive corpora</a:t>
            </a:r>
            <a:endParaRPr lang="en-US" sz="1350" dirty="0"/>
          </a:p>
          <a:p>
            <a:pPr marL="85725" indent="-85725" algn="ctr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learning advantages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71500" y="3642271"/>
            <a:ext cx="3848100" cy="967680"/>
          </a:xfrm>
          <a:prstGeom prst="roundRect">
            <a:avLst>
              <a:gd name="adj" fmla="val 9843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88467" y="3794671"/>
            <a:ext cx="36141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Impact</a:t>
            </a:r>
            <a:endParaRPr lang="en-US" sz="1125" dirty="0"/>
          </a:p>
        </p:txBody>
      </p:sp>
      <p:sp>
        <p:nvSpPr>
          <p:cNvPr id="8" name="Text 5"/>
          <p:cNvSpPr/>
          <p:nvPr/>
        </p:nvSpPr>
        <p:spPr>
          <a:xfrm>
            <a:off x="688467" y="4061371"/>
            <a:ext cx="3614166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975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</a:t>
            </a:r>
            <a:r>
              <a:rPr lang="en-US" sz="975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5-10%</a:t>
            </a:r>
            <a:r>
              <a:rPr lang="en-US" sz="975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F1-score improvement especially on complex context-dependent cases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4724400" y="1266230"/>
            <a:ext cx="3848100" cy="2397919"/>
          </a:xfrm>
          <a:prstGeom prst="roundRect">
            <a:avLst>
              <a:gd name="adj" fmla="val 4767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860798" y="1437680"/>
            <a:ext cx="357530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4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Augmentation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895850" y="1734741"/>
            <a:ext cx="3505200" cy="535186"/>
          </a:xfrm>
          <a:prstGeom prst="roundRect">
            <a:avLst>
              <a:gd name="adj" fmla="val 1067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957953" y="1829991"/>
            <a:ext cx="338099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Back-Translation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957953" y="2028081"/>
            <a:ext cx="338099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 to another language and back to create variations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4895850" y="2346127"/>
            <a:ext cx="3505200" cy="535186"/>
          </a:xfrm>
          <a:prstGeom prst="roundRect">
            <a:avLst>
              <a:gd name="adj" fmla="val 1067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957953" y="2441377"/>
            <a:ext cx="338099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Paraphrasing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957953" y="2639467"/>
            <a:ext cx="338099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GPT-based generation of semantic equivalents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4895850" y="2957513"/>
            <a:ext cx="3505200" cy="535186"/>
          </a:xfrm>
          <a:prstGeom prst="roundRect">
            <a:avLst>
              <a:gd name="adj" fmla="val 1067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957953" y="3052763"/>
            <a:ext cx="338099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Data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957953" y="3250853"/>
            <a:ext cx="338099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examples for rare categories (threat, identity_hate)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4724400" y="3797498"/>
            <a:ext cx="3848100" cy="917972"/>
          </a:xfrm>
          <a:prstGeom prst="roundRect">
            <a:avLst>
              <a:gd name="adj" fmla="val 10376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841367" y="3949898"/>
            <a:ext cx="36141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Multi-lingual Expansion</a:t>
            </a:r>
            <a:endParaRPr lang="en-US" sz="1125" dirty="0"/>
          </a:p>
        </p:txBody>
      </p:sp>
      <p:sp>
        <p:nvSpPr>
          <p:cNvPr id="22" name="Text 19"/>
          <p:cNvSpPr/>
          <p:nvPr/>
        </p:nvSpPr>
        <p:spPr>
          <a:xfrm>
            <a:off x="4841367" y="4197548"/>
            <a:ext cx="3614166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on multilingual datasets or use cross-lingual models (XLM-R, mBERT) for global deployment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6390" y="716161"/>
            <a:ext cx="74712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Aft>
                <a:spcPts val="2400"/>
              </a:spcAft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Achievements &amp; Future Work</a:t>
            </a:r>
            <a:endParaRPr lang="en-US" sz="3600" dirty="0"/>
          </a:p>
        </p:txBody>
      </p:sp>
      <p:pic>
        <p:nvPicPr>
          <p:cNvPr id="3" name="Image 0" descr="/tmp/rasterized-gradient-fadfa97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78161"/>
            <a:ext cx="3848100" cy="20234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26013" y="1706761"/>
            <a:ext cx="1739075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33"/>
              </a:lnSpc>
              <a:spcAft>
                <a:spcPts val="1200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Achievements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800100" y="2091928"/>
            <a:ext cx="3390900" cy="11811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ctr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 F1-score with CNN</a:t>
            </a:r>
            <a:endParaRPr lang="en-US" sz="1350" dirty="0"/>
          </a:p>
          <a:p>
            <a:pPr marL="95250" indent="-95250" algn="ctr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Successful multi-label classification</a:t>
            </a:r>
            <a:endParaRPr lang="en-US" sz="1350" dirty="0"/>
          </a:p>
          <a:p>
            <a:pPr marL="95250" indent="-95250" algn="ctr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Per-label threshold tuning</a:t>
            </a:r>
            <a:endParaRPr lang="en-US" sz="1350" dirty="0"/>
          </a:p>
          <a:p>
            <a:pPr marL="95250" indent="-95250" algn="ctr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Gradio deployment</a:t>
            </a:r>
            <a:endParaRPr lang="en-US" sz="1350" dirty="0"/>
          </a:p>
        </p:txBody>
      </p:sp>
      <p:pic>
        <p:nvPicPr>
          <p:cNvPr id="6" name="Image 1" descr="/tmp/rasterized-gradient-3c0964e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1478161"/>
            <a:ext cx="3848100" cy="202346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59482" y="1706761"/>
            <a:ext cx="1777937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33"/>
              </a:lnSpc>
              <a:spcAft>
                <a:spcPts val="1200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Directions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4953000" y="2091928"/>
            <a:ext cx="3390900" cy="11811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ctr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models (BERT, RoBERTa)</a:t>
            </a:r>
            <a:endParaRPr lang="en-US" sz="1350" dirty="0"/>
          </a:p>
          <a:p>
            <a:pPr marL="95250" indent="-95250" algn="ctr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augmentation for rare categories</a:t>
            </a:r>
            <a:endParaRPr lang="en-US" sz="1350" dirty="0"/>
          </a:p>
          <a:p>
            <a:pPr marL="95250" indent="-95250" algn="ctr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explainability (LIME, SHAP)</a:t>
            </a:r>
            <a:endParaRPr lang="en-US" sz="1350" dirty="0"/>
          </a:p>
          <a:p>
            <a:pPr marL="95250" indent="-95250" algn="ctr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Multi-lingual support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571500" y="3730228"/>
            <a:ext cx="8001000" cy="697111"/>
          </a:xfrm>
          <a:prstGeom prst="roundRect">
            <a:avLst>
              <a:gd name="adj" fmla="val 16396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724662" y="3958828"/>
            <a:ext cx="769467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ML Pipeline: Data → Preprocessing → Models → Deployment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1447</Words>
  <Application>Microsoft Office PowerPoint</Application>
  <PresentationFormat>On-screen Show (16:9)</PresentationFormat>
  <Paragraphs>370</Paragraphs>
  <Slides>25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Toxic Comment Classification - Comprehensive Analysis</dc:title>
  <dc:subject>PptxGenJS Presentation</dc:subject>
  <dc:creator>ML Project</dc:creator>
  <cp:lastModifiedBy>امنيه مجدى ابراهيم السيد</cp:lastModifiedBy>
  <cp:revision>3</cp:revision>
  <dcterms:created xsi:type="dcterms:W3CDTF">2025-12-21T21:09:41Z</dcterms:created>
  <dcterms:modified xsi:type="dcterms:W3CDTF">2025-12-23T07:57:20Z</dcterms:modified>
</cp:coreProperties>
</file>